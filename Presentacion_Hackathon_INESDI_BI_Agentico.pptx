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0"/>
          </a:solidFill>
          <a:ln>
            <a:solidFill>
              <a:srgbClr val="151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5C9E8"/>
                </a:solidFill>
              </a:rPr>
              <a:t>HACKATHON INESDI · BUSINESS INTELLIGENCE × SISTEMAS AGÉNTICOS</a:t>
            </a:r>
          </a:p>
          <a:p>
            <a:pPr>
              <a:spcAft>
                <a:spcPts val="1600"/>
              </a:spcAft>
            </a:pPr>
            <a:r>
              <a:rPr sz="3800" b="1">
                <a:solidFill>
                  <a:srgbClr val="FFFFFF"/>
                </a:solidFill>
              </a:rPr>
              <a:t>Monitorización &amp; Alerta Temprana de
Riesgo Crediticio en SaaS/Fintech</a:t>
            </a:r>
          </a:p>
          <a:p>
            <a:pPr>
              <a:spcAft>
                <a:spcPts val="2400"/>
              </a:spcAft>
            </a:pPr>
            <a:r>
              <a:rPr sz="1800">
                <a:solidFill>
                  <a:srgbClr val="DAE5EA"/>
                </a:solidFill>
              </a:rPr>
              <a:t>Un sistema agéntico conectado a Neon PostgreSQL Cloud con capacidad de razonamiento, Skill propia de scoring y protocolo estándar MCP.</a:t>
            </a:r>
          </a:p>
          <a:p>
            <a:r>
              <a:rPr sz="1300" i="1">
                <a:solidFill>
                  <a:srgbClr val="F5D04A"/>
                </a:solidFill>
              </a:rPr>
              <a:t>Autora: Sofia Montero  |  Tiempo estimado de defensa: 8 - 10 minutos
Repositorio: github.com/sofmonteja-dotcom/credit-risk-bi-agentico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solidFill>
              <a:srgbClr val="F6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C9E8"/>
                </a:solidFill>
              </a:rPr>
              <a:t>01 / INVESTIGACIÓN Y PROBLEMA</a:t>
            </a:r>
          </a:p>
          <a:p>
            <a:r>
              <a:rPr sz="2600" b="1">
                <a:solidFill>
                  <a:srgbClr val="172027"/>
                </a:solidFill>
              </a:rPr>
              <a:t>¿Por qué falla la gestión de riesgo tradicional?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72027"/>
                </a:solidFill>
              </a:rPr>
              <a:t>El Dolor en SaaS &amp; Fintech</a:t>
            </a:r>
          </a:p>
          <a:p>
            <a:r>
              <a:rPr sz="1300">
                <a:solidFill>
                  <a:srgbClr val="607079"/>
                </a:solidFill>
              </a:rPr>
              <a:t>• El impago destruye entre 3% y 8% del flujo de caja anual.
• Incremento severo del DSO (Days Sales Outstanding).
• La cobranza reactiva recupera menos del 30% una vez vencida la deuda.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05740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72027"/>
                </a:solidFill>
              </a:rPr>
              <a:t>Limitación de Soluciones Actuales</a:t>
            </a:r>
          </a:p>
          <a:p>
            <a:r>
              <a:rPr sz="1300">
                <a:solidFill>
                  <a:srgbClr val="607079"/>
                </a:solidFill>
              </a:rPr>
              <a:t>• Burós estáticos (Experian/Equifax): Consultas lentas y datos desfasados.
• Motores de reglas rígidas: Emails genéricos sin contexto.
• ML en caja negra: Puntuaciones numéricas sin plan de acción ejecutable.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05740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72027"/>
                </a:solidFill>
              </a:rPr>
              <a:t>Nuestra Propuesta de Valor</a:t>
            </a:r>
          </a:p>
          <a:p>
            <a:r>
              <a:rPr sz="1300">
                <a:solidFill>
                  <a:srgbClr val="607079"/>
                </a:solidFill>
              </a:rPr>
              <a:t>• Detección preventiva antes de la fecha de corte.
• Modelo transparente y explicable en 4 dimensiones.
• Agente autónomo con capacidad de accionar planes de mitigación (Human-in-the-Loop).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solidFill>
              <a:srgbClr val="F6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C9E8"/>
                </a:solidFill>
              </a:rPr>
              <a:t>02 / DATOS REALES E INFRAESTRUCTURA</a:t>
            </a:r>
          </a:p>
          <a:p>
            <a:r>
              <a:rPr sz="2600" b="1">
                <a:solidFill>
                  <a:srgbClr val="172027"/>
                </a:solidFill>
              </a:rPr>
              <a:t>Persistencia Cloud Serverless en Neon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560320" cy="2103120"/>
          </a:xfrm>
          <a:prstGeom prst="rect">
            <a:avLst/>
          </a:prstGeom>
          <a:solidFill>
            <a:srgbClr val="151B20"/>
          </a:solidFill>
          <a:ln>
            <a:solidFill>
              <a:srgbClr val="151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5C9E8"/>
                </a:solidFill>
              </a:rPr>
              <a:t>32,581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5D04A"/>
                </a:solidFill>
              </a:rPr>
              <a:t>REGISTROS REALES</a:t>
            </a:r>
          </a:p>
          <a:p>
            <a:r>
              <a:rPr sz="1100">
                <a:solidFill>
                  <a:srgbClr val="B4C3CD"/>
                </a:solidFill>
              </a:rPr>
              <a:t>Dataset Credit Risk (Kaggle)
12 variables financieras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828800"/>
            <a:ext cx="2560320" cy="2103120"/>
          </a:xfrm>
          <a:prstGeom prst="rect">
            <a:avLst/>
          </a:prstGeom>
          <a:solidFill>
            <a:srgbClr val="151B20"/>
          </a:solidFill>
          <a:ln>
            <a:solidFill>
              <a:srgbClr val="151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0116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5C9E8"/>
                </a:solidFill>
              </a:rPr>
              <a:t>$312.4M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5D04A"/>
                </a:solidFill>
              </a:rPr>
              <a:t>VOLUMEN COLOCADO</a:t>
            </a:r>
          </a:p>
          <a:p>
            <a:r>
              <a:rPr sz="1100">
                <a:solidFill>
                  <a:srgbClr val="B4C3CD"/>
                </a:solidFill>
              </a:rPr>
              <a:t>Exposición total evaluada
en Neon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828800"/>
            <a:ext cx="2560320" cy="2103120"/>
          </a:xfrm>
          <a:prstGeom prst="rect">
            <a:avLst/>
          </a:prstGeom>
          <a:solidFill>
            <a:srgbClr val="151B20"/>
          </a:solidFill>
          <a:ln>
            <a:solidFill>
              <a:srgbClr val="151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0116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5C9E8"/>
                </a:solidFill>
              </a:rPr>
              <a:t>21.82%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5D04A"/>
                </a:solidFill>
              </a:rPr>
              <a:t>TASA DE DEFAULT</a:t>
            </a:r>
          </a:p>
          <a:p>
            <a:r>
              <a:rPr sz="1100">
                <a:solidFill>
                  <a:srgbClr val="B4C3CD"/>
                </a:solidFill>
              </a:rPr>
              <a:t>7,108 clientes en impago
Base real para modelado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23960" y="1828800"/>
            <a:ext cx="2560320" cy="2103120"/>
          </a:xfrm>
          <a:prstGeom prst="rect">
            <a:avLst/>
          </a:prstGeom>
          <a:solidFill>
            <a:srgbClr val="151B20"/>
          </a:solidFill>
          <a:ln>
            <a:solidFill>
              <a:srgbClr val="151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0116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5C9E8"/>
                </a:solidFill>
              </a:rPr>
              <a:t>&lt; 150 ms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5D04A"/>
                </a:solidFill>
              </a:rPr>
              <a:t>LATENCIA CLOUD</a:t>
            </a:r>
          </a:p>
          <a:p>
            <a:r>
              <a:rPr sz="1100">
                <a:solidFill>
                  <a:srgbClr val="B4C3CD"/>
                </a:solidFill>
              </a:rPr>
              <a:t>Pooler optimizado de Neon
en AWS us-east-2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10698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72027"/>
                </a:solidFill>
              </a:rPr>
              <a:t>Calidad de Datos y Aprovisionamiento:</a:t>
            </a:r>
          </a:p>
          <a:p>
            <a:r>
              <a:rPr sz="1300">
                <a:solidFill>
                  <a:srgbClr val="607079"/>
                </a:solidFill>
              </a:rPr>
              <a:t>• Tabla PostgreSQL nativa: credit_risk provisionada automáticamente con neon deploy.
• Tratamiento de Nulos: Conservación y manejo explícito de valores nulos en antigüedad laboral y tasa de interés.
• Conexión de Alta Eficiencia: Driver oficial @neondatabase/serverless configurado para entornos sin estado y web.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0"/>
          </a:solidFill>
          <a:ln>
            <a:solidFill>
              <a:srgbClr val="151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C9E8"/>
                </a:solidFill>
              </a:rPr>
              <a:t>03 / ARQUITECTURA DE SISTEMAS</a:t>
            </a:r>
          </a:p>
          <a:p>
            <a:r>
              <a:rPr sz="2600" b="1">
                <a:solidFill>
                  <a:srgbClr val="FFFFFF"/>
                </a:solidFill>
              </a:rPr>
              <a:t>Flujo Funcional de Principio a Fin (End-to-End)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57400" cy="3931920"/>
          </a:xfrm>
          <a:prstGeom prst="roundRect">
            <a:avLst/>
          </a:prstGeom>
          <a:solidFill>
            <a:srgbClr val="1C262E"/>
          </a:solidFill>
          <a:ln>
            <a:solidFill>
              <a:srgbClr val="364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18379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5D04A"/>
                </a:solidFill>
              </a:rPr>
              <a:t>1. Frontend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</a:rPr>
              <a:t>Dashboard Web</a:t>
            </a:r>
          </a:p>
          <a:p>
            <a:r>
              <a:rPr sz="1200">
                <a:solidFill>
                  <a:srgbClr val="C8D7E1"/>
                </a:solidFill>
              </a:rPr>
              <a:t>Chart.js, tarjetas KPI, radar de alertas y chat en lenguaje natural.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2011680"/>
            <a:ext cx="2057400" cy="3931920"/>
          </a:xfrm>
          <a:prstGeom prst="roundRect">
            <a:avLst/>
          </a:prstGeom>
          <a:solidFill>
            <a:srgbClr val="1C262E"/>
          </a:solidFill>
          <a:ln>
            <a:solidFill>
              <a:srgbClr val="364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19" y="2194560"/>
            <a:ext cx="18379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5D04A"/>
                </a:solidFill>
              </a:rPr>
              <a:t>2. Backend API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</a:rPr>
              <a:t>Express + TS</a:t>
            </a:r>
          </a:p>
          <a:p>
            <a:r>
              <a:rPr sz="1200">
                <a:solidFill>
                  <a:srgbClr val="C8D7E1"/>
                </a:solidFill>
              </a:rPr>
              <a:t>Endpoints REST (/api/kpis, /api/alerts) y orquestador del agente.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2011680"/>
            <a:ext cx="2057400" cy="3931920"/>
          </a:xfrm>
          <a:prstGeom prst="roundRect">
            <a:avLst/>
          </a:prstGeom>
          <a:solidFill>
            <a:srgbClr val="1C262E"/>
          </a:solidFill>
          <a:ln>
            <a:solidFill>
              <a:srgbClr val="25C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93792" y="2194560"/>
            <a:ext cx="18379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5D04A"/>
                </a:solidFill>
              </a:rPr>
              <a:t>3. Skill de Negocio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</a:rPr>
              <a:t>credit-risk-evaluator</a:t>
            </a:r>
          </a:p>
          <a:p>
            <a:r>
              <a:rPr sz="1200">
                <a:solidFill>
                  <a:srgbClr val="C8D7E1"/>
                </a:solidFill>
              </a:rPr>
              <a:t>Scoring heurístico 0-100 ponderado en 4 dimensiones financieras.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2011680"/>
            <a:ext cx="2057400" cy="3931920"/>
          </a:xfrm>
          <a:prstGeom prst="roundRect">
            <a:avLst/>
          </a:prstGeom>
          <a:solidFill>
            <a:srgbClr val="1C262E"/>
          </a:solidFill>
          <a:ln>
            <a:solidFill>
              <a:srgbClr val="25C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4" y="2194560"/>
            <a:ext cx="18379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5D04A"/>
                </a:solidFill>
              </a:rPr>
              <a:t>4. Servidor MCP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</a:rPr>
              <a:t>Protocolo Oficial</a:t>
            </a:r>
          </a:p>
          <a:p>
            <a:r>
              <a:rPr sz="1200">
                <a:solidFill>
                  <a:srgbClr val="C8D7E1"/>
                </a:solidFill>
              </a:rPr>
              <a:t>Tools estandarizadas: get_kpis, get_alerts, evaluate_customer, query_data.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2011680"/>
            <a:ext cx="2057400" cy="3931920"/>
          </a:xfrm>
          <a:prstGeom prst="roundRect">
            <a:avLst/>
          </a:prstGeom>
          <a:solidFill>
            <a:srgbClr val="1C262E"/>
          </a:solidFill>
          <a:ln>
            <a:solidFill>
              <a:srgbClr val="364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46336" y="2194560"/>
            <a:ext cx="18379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5D04A"/>
                </a:solidFill>
              </a:rPr>
              <a:t>5. Persistencia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</a:rPr>
              <a:t>Neon PostgreSQL</a:t>
            </a:r>
          </a:p>
          <a:p>
            <a:r>
              <a:rPr sz="1200">
                <a:solidFill>
                  <a:srgbClr val="C8D7E1"/>
                </a:solidFill>
              </a:rPr>
              <a:t>32,581 registros reales, pooler optimizado y escalabilidad automática.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solidFill>
              <a:srgbClr val="F6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C9E8"/>
                </a:solidFill>
              </a:rPr>
              <a:t>04 / INTELIGENCIA DE NEGOCIO</a:t>
            </a:r>
          </a:p>
          <a:p>
            <a:r>
              <a:rPr sz="2600" b="1">
                <a:solidFill>
                  <a:srgbClr val="172027"/>
                </a:solidFill>
              </a:rPr>
              <a:t>Skill Propia: Modelo Heurístico de Riesgo (0 - 100)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62179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72027"/>
                </a:solidFill>
              </a:rPr>
              <a:t>4 Dimensiones Ponderadas de Solvencia: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72027"/>
                </a:solidFill>
              </a:rPr>
              <a:t>• 1. Esfuerzo Financiero (DTI) [Máx 35 pts]: </a:t>
            </a:r>
            <a:r>
              <a:rPr sz="1200">
                <a:solidFill>
                  <a:srgbClr val="607079"/>
                </a:solidFill>
              </a:rPr>
              <a:t>Ratio préstamo / ingreso anual. Penaliza severamente &gt;= 40%.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72027"/>
                </a:solidFill>
              </a:rPr>
              <a:t>• 2. Calificación Crediticia [Máx 30 pts]: </a:t>
            </a:r>
            <a:r>
              <a:rPr sz="1200">
                <a:solidFill>
                  <a:srgbClr val="607079"/>
                </a:solidFill>
              </a:rPr>
              <a:t>Grados E, F, G (+30 pts), Grado D (+20 pts), Grado C (+12 pts).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72027"/>
                </a:solidFill>
              </a:rPr>
              <a:t>• 3. Mora Previa en Buró [Máx 25 pts]: </a:t>
            </a:r>
            <a:r>
              <a:rPr sz="1200">
                <a:solidFill>
                  <a:srgbClr val="607079"/>
                </a:solidFill>
              </a:rPr>
              <a:t>Registro histórico de default = 25 pts directos.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72027"/>
                </a:solidFill>
              </a:rPr>
              <a:t>• 4. Estabilidad Laboral/Vivienda [Máx 10 pts]: </a:t>
            </a:r>
            <a:r>
              <a:rPr sz="1200">
                <a:solidFill>
                  <a:srgbClr val="607079"/>
                </a:solidFill>
              </a:rPr>
              <a:t>Vivienda en alquiler con menos de 2 años en empleo actual.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828800"/>
            <a:ext cx="4297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01168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72027"/>
                </a:solidFill>
              </a:rPr>
              <a:t>Semáforo y Protocolo de Decisión: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72027"/>
                </a:solidFill>
              </a:rPr>
              <a:t>🟢 RIESGO BAJO (0 - 39 pts)
</a:t>
            </a:r>
            <a:r>
              <a:rPr sz="1200">
                <a:solidFill>
                  <a:srgbClr val="607079"/>
                </a:solidFill>
              </a:rPr>
              <a:t>Solvencia saludable. Apto para condiciones estándar o aumento de cupo.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72027"/>
                </a:solidFill>
              </a:rPr>
              <a:t>🟡 RIESGO MEDIO (40 - 69 pts)
</a:t>
            </a:r>
            <a:r>
              <a:rPr sz="1200">
                <a:solidFill>
                  <a:srgbClr val="607079"/>
                </a:solidFill>
              </a:rPr>
              <a:t>Vulnerable. Recordatorios automatizados 5 días antes de vencimiento.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72027"/>
                </a:solidFill>
              </a:rPr>
              <a:t>🔴 RIESGO ALTO (70 - 100 pts)
</a:t>
            </a:r>
            <a:r>
              <a:rPr sz="1200">
                <a:solidFill>
                  <a:srgbClr val="607079"/>
                </a:solidFill>
              </a:rPr>
              <a:t>Alerta crítica temprana. Intervención humana: requerir co-garantía o renegociación preventiva.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solidFill>
              <a:srgbClr val="F6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C9E8"/>
                </a:solidFill>
              </a:rPr>
              <a:t>05 / INTEGRACIÓN ESTÁNDAR</a:t>
            </a:r>
          </a:p>
          <a:p>
            <a:r>
              <a:rPr sz="2600" b="1">
                <a:solidFill>
                  <a:srgbClr val="172027"/>
                </a:solidFill>
              </a:rPr>
              <a:t>Servidor MCP (Model Context Protocol) en Acción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B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8EAA"/>
                </a:solidFill>
              </a:rPr>
              <a:t>Tool: get_portfolio_kpis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607079"/>
                </a:solidFill>
              </a:rPr>
              <a:t>Agregaciones de Cartera</a:t>
            </a:r>
          </a:p>
          <a:p>
            <a:r>
              <a:rPr sz="1200">
                <a:solidFill>
                  <a:srgbClr val="172027"/>
                </a:solidFill>
              </a:rPr>
              <a:t>Ejecuta queries en Neon DB calculando volumen total colocado, mora global, ticket promedio e historial de mora.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B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2011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8EAA"/>
                </a:solidFill>
              </a:rPr>
              <a:t>Tool: get_high_risk_alerts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607079"/>
                </a:solidFill>
              </a:rPr>
              <a:t>Radar de Alertas</a:t>
            </a:r>
          </a:p>
          <a:p>
            <a:r>
              <a:rPr sz="1200">
                <a:solidFill>
                  <a:srgbClr val="172027"/>
                </a:solidFill>
              </a:rPr>
              <a:t>Filtra prestatarios con DTI crítico (&gt;=35%) o antecedentes negativos y grado bajo. Los prioriza por severidad.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B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8EAA"/>
                </a:solidFill>
              </a:rPr>
              <a:t>Tool: evaluate_customer_credit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607079"/>
                </a:solidFill>
              </a:rPr>
              <a:t>Evaluación On-Demand</a:t>
            </a:r>
          </a:p>
          <a:p>
            <a:r>
              <a:rPr sz="1200">
                <a:solidFill>
                  <a:srgbClr val="172027"/>
                </a:solidFill>
              </a:rPr>
              <a:t>Aplica la Skill heurística sobre un cliente específico por ID, calculando su score (0-100) y recomendación.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6908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B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25196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8EAA"/>
                </a:solidFill>
              </a:rPr>
              <a:t>Tool: query_credit_data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607079"/>
                </a:solidFill>
              </a:rPr>
              <a:t>Consultas Ad-Hoc</a:t>
            </a:r>
          </a:p>
          <a:p>
            <a:r>
              <a:rPr sz="1200">
                <a:solidFill>
                  <a:srgbClr val="172027"/>
                </a:solidFill>
              </a:rPr>
              <a:t>Permite al agente ejecutar consultas analíticas SELECT controladas para resolver preguntas complejas de negocio.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0"/>
          </a:solidFill>
          <a:ln>
            <a:solidFill>
              <a:srgbClr val="151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C9E8"/>
                </a:solidFill>
              </a:rPr>
              <a:t>06 / DEMOSTRACIÓN EN VIVO</a:t>
            </a:r>
          </a:p>
          <a:p>
            <a:r>
              <a:rPr sz="2600" b="1">
                <a:solidFill>
                  <a:srgbClr val="FFFFFF"/>
                </a:solidFill>
              </a:rPr>
              <a:t>Dashboard de Business Intelligence &amp; Chat del Agente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005840"/>
          </a:xfrm>
          <a:prstGeom prst="roundRect">
            <a:avLst/>
          </a:prstGeom>
          <a:solidFill>
            <a:srgbClr val="1C262E"/>
          </a:solidFill>
          <a:ln>
            <a:solidFill>
              <a:srgbClr val="364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5C9E8"/>
                </a:solidFill>
              </a:rPr>
              <a:t>Dashboard Visual Reactivo — </a:t>
            </a:r>
            <a:r>
              <a:rPr sz="1300">
                <a:solidFill>
                  <a:srgbClr val="DAE5EA"/>
                </a:solidFill>
              </a:rPr>
              <a:t>Renderizado con Chart.js consumiendo la API de Express conectada a Neon. Gráfico de impago por grado (A a G) y dona de destino del crédito.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698480" cy="1005840"/>
          </a:xfrm>
          <a:prstGeom prst="roundRect">
            <a:avLst/>
          </a:prstGeom>
          <a:solidFill>
            <a:srgbClr val="1C262E"/>
          </a:solidFill>
          <a:ln>
            <a:solidFill>
              <a:srgbClr val="364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8152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5C9E8"/>
                </a:solidFill>
              </a:rPr>
              <a:t>Radar de Alertas Tempranas — </a:t>
            </a:r>
            <a:r>
              <a:rPr sz="1300">
                <a:solidFill>
                  <a:srgbClr val="DAE5EA"/>
                </a:solidFill>
              </a:rPr>
              <a:t>Tabla en tiempo real que lista los créditos de mayor riesgo, su semáforo de color y la recomendación algorítmica para el equipo de riesgo.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698480" cy="1005840"/>
          </a:xfrm>
          <a:prstGeom prst="roundRect">
            <a:avLst/>
          </a:prstGeom>
          <a:solidFill>
            <a:srgbClr val="1C262E"/>
          </a:solidFill>
          <a:ln>
            <a:solidFill>
              <a:srgbClr val="364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2452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5C9E8"/>
                </a:solidFill>
              </a:rPr>
              <a:t>Chat del Agente Coordinador — </a:t>
            </a:r>
            <a:r>
              <a:rPr sz="1300">
                <a:solidFill>
                  <a:srgbClr val="DAE5EA"/>
                </a:solidFill>
              </a:rPr>
              <a:t>Interfaz conversacional donde el usuario pregunta en lenguaje natural ('¿Cuáles son los KPIs?' o 'Evaluar cliente #1') y el agente ejecuta las tools MCP.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57800"/>
            <a:ext cx="10698480" cy="1005840"/>
          </a:xfrm>
          <a:prstGeom prst="roundRect">
            <a:avLst/>
          </a:prstGeom>
          <a:solidFill>
            <a:srgbClr val="1C262E"/>
          </a:solidFill>
          <a:ln>
            <a:solidFill>
              <a:srgbClr val="364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6752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5C9E8"/>
                </a:solidFill>
              </a:rPr>
              <a:t>Validación de Hipótesis BI — </a:t>
            </a:r>
            <a:r>
              <a:rPr sz="1300">
                <a:solidFill>
                  <a:srgbClr val="DAE5EA"/>
                </a:solidFill>
              </a:rPr>
              <a:t>Los datos demuestran que prestatarios con DTI &gt;= 40% tienen un 72.4% de impago (frente al 21.8% global), validando la urgencia de alertas preventivas.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solidFill>
              <a:srgbClr val="F6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C9E8"/>
                </a:solidFill>
              </a:rPr>
              <a:t>07 / CALIDAD DEL SOFTWARE</a:t>
            </a:r>
          </a:p>
          <a:p>
            <a:r>
              <a:rPr sz="2600" b="1">
                <a:solidFill>
                  <a:srgbClr val="172027"/>
                </a:solidFill>
              </a:rPr>
              <a:t>9 de 9 Pruebas Obligatorias Verificadas (100% OK)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✅ </a:t>
            </a:r>
            <a:r>
              <a:rPr b="1" sz="1400">
                <a:solidFill>
                  <a:srgbClr val="172027"/>
                </a:solidFill>
              </a:rPr>
              <a:t>1. Agente</a:t>
            </a:r>
          </a:p>
          <a:p>
            <a:r>
              <a:rPr sz="1150">
                <a:solidFill>
                  <a:srgbClr val="607079"/>
                </a:solidFill>
              </a:rPr>
              <a:t>Interpreta peticiones y clasifica riesgo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96596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✅ </a:t>
            </a:r>
            <a:r>
              <a:rPr b="1" sz="1400">
                <a:solidFill>
                  <a:srgbClr val="172027"/>
                </a:solidFill>
              </a:rPr>
              <a:t>2. Skill</a:t>
            </a:r>
          </a:p>
          <a:p>
            <a:r>
              <a:rPr sz="1150">
                <a:solidFill>
                  <a:srgbClr val="607079"/>
                </a:solidFill>
              </a:rPr>
              <a:t>Cálculo determinista de score 0-100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96596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✅ </a:t>
            </a:r>
            <a:r>
              <a:rPr b="1" sz="1400">
                <a:solidFill>
                  <a:srgbClr val="172027"/>
                </a:solidFill>
              </a:rPr>
              <a:t>3. MCP</a:t>
            </a:r>
          </a:p>
          <a:p>
            <a:r>
              <a:rPr sz="1150">
                <a:solidFill>
                  <a:srgbClr val="607079"/>
                </a:solidFill>
              </a:rPr>
              <a:t>Llamadas estandarizadas con retorno tipado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✅ </a:t>
            </a:r>
            <a:r>
              <a:rPr b="1" sz="1400">
                <a:solidFill>
                  <a:srgbClr val="172027"/>
                </a:solidFill>
              </a:rPr>
              <a:t>4. Base de Datos</a:t>
            </a:r>
          </a:p>
          <a:p>
            <a:r>
              <a:rPr sz="1150">
                <a:solidFill>
                  <a:srgbClr val="607079"/>
                </a:solidFill>
              </a:rPr>
              <a:t>32,581 filas leídas sin error en Neon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29184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342900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✅ </a:t>
            </a:r>
            <a:r>
              <a:rPr b="1" sz="1400">
                <a:solidFill>
                  <a:srgbClr val="172027"/>
                </a:solidFill>
              </a:rPr>
              <a:t>5. Backend</a:t>
            </a:r>
          </a:p>
          <a:p>
            <a:r>
              <a:rPr sz="1150">
                <a:solidFill>
                  <a:srgbClr val="607079"/>
                </a:solidFill>
              </a:rPr>
              <a:t>Endpoints REST con latencia &lt; 150 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29184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42900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✅ </a:t>
            </a:r>
            <a:r>
              <a:rPr b="1" sz="1400">
                <a:solidFill>
                  <a:srgbClr val="172027"/>
                </a:solidFill>
              </a:rPr>
              <a:t>6. Frontend</a:t>
            </a:r>
          </a:p>
          <a:p>
            <a:r>
              <a:rPr sz="1150">
                <a:solidFill>
                  <a:srgbClr val="607079"/>
                </a:solidFill>
              </a:rPr>
              <a:t>Dashboard interactivo y chat funcional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✅ </a:t>
            </a:r>
            <a:r>
              <a:rPr b="1" sz="1400">
                <a:solidFill>
                  <a:srgbClr val="172027"/>
                </a:solidFill>
              </a:rPr>
              <a:t>7. Flujo Completo</a:t>
            </a:r>
          </a:p>
          <a:p>
            <a:r>
              <a:rPr sz="1150">
                <a:solidFill>
                  <a:srgbClr val="607079"/>
                </a:solidFill>
              </a:rPr>
              <a:t>Ciclo usuario -&gt; agente -&gt; Neon -&gt; alerta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475488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8920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✅ </a:t>
            </a:r>
            <a:r>
              <a:rPr b="1" sz="1400">
                <a:solidFill>
                  <a:srgbClr val="172027"/>
                </a:solidFill>
              </a:rPr>
              <a:t>8. Errores</a:t>
            </a:r>
          </a:p>
          <a:p>
            <a:r>
              <a:rPr sz="1150">
                <a:solidFill>
                  <a:srgbClr val="607079"/>
                </a:solidFill>
              </a:rPr>
              <a:t>Manejo seguro de valores nulos y excepciones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475488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8920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✅ </a:t>
            </a:r>
            <a:r>
              <a:rPr b="1" sz="1400">
                <a:solidFill>
                  <a:srgbClr val="172027"/>
                </a:solidFill>
              </a:rPr>
              <a:t>9. Validación BI</a:t>
            </a:r>
          </a:p>
          <a:p>
            <a:r>
              <a:rPr sz="1150">
                <a:solidFill>
                  <a:srgbClr val="607079"/>
                </a:solidFill>
              </a:rPr>
              <a:t>Métricas SQL idénticas a los datos crudos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solidFill>
              <a:srgbClr val="F6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5C9E8"/>
                </a:solidFill>
              </a:rPr>
              <a:t>08 / APRENDIZAJE KAOSPILOT</a:t>
            </a:r>
          </a:p>
          <a:p>
            <a:r>
              <a:rPr sz="2600" b="1">
                <a:solidFill>
                  <a:srgbClr val="172027"/>
                </a:solidFill>
              </a:rPr>
              <a:t>Reflexión y Compromisos de Mejora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25C9E8"/>
                </a:solidFill>
              </a:rPr>
              <a:t>VAMOS A MANTENER</a:t>
            </a:r>
          </a:p>
          <a:p>
            <a:r>
              <a:rPr sz="1300">
                <a:solidFill>
                  <a:srgbClr val="172027"/>
                </a:solidFill>
              </a:rPr>
              <a:t>• La validación empírica y suite de pruebas obligatorias con evidencias reproducibles.
• El rigor de conectar datos reales en producción cloud desde el día uno.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05740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D04A"/>
                </a:solidFill>
              </a:rPr>
              <a:t>VAMOS A CAMBIAR</a:t>
            </a:r>
          </a:p>
          <a:p>
            <a:r>
              <a:rPr sz="1300">
                <a:solidFill>
                  <a:srgbClr val="172027"/>
                </a:solidFill>
              </a:rPr>
              <a:t>• La adopción de configuraciones por defecto sin antes auditar los poolers de conexión.
• Desarrollar con enfoque TDD (definir las pruebas antes del código del backend).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05740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A371F7"/>
                </a:solidFill>
              </a:rPr>
              <a:t>VAMOS A EXPERIMENTAR</a:t>
            </a:r>
          </a:p>
          <a:p>
            <a:r>
              <a:rPr sz="1300">
                <a:solidFill>
                  <a:srgbClr val="172027"/>
                </a:solidFill>
              </a:rPr>
              <a:t>• Con agentes colaborativos multi-rol que negocien automáticamente planes de pago.
• Con búsqueda semántica mediante pgvector/Lakebase Search en Neon.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0"/>
          </a:solidFill>
          <a:ln>
            <a:solidFill>
              <a:srgbClr val="151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25C9E8"/>
                </a:solidFill>
              </a:rPr>
              <a:t>CONCLUSIÓN · HACKATHON INESDI</a:t>
            </a:r>
          </a:p>
          <a:p>
            <a:pPr>
              <a:spcAft>
                <a:spcPts val="1800"/>
              </a:spcAft>
            </a:pPr>
            <a:r>
              <a:rPr sz="3600" b="1">
                <a:solidFill>
                  <a:srgbClr val="FFFFFF"/>
                </a:solidFill>
              </a:rPr>
              <a:t>Un sistema sencillo, real y probado
vale más que una arquitectura no ejecutable.</a:t>
            </a:r>
          </a:p>
          <a:p>
            <a:pPr>
              <a:spcAft>
                <a:spcPts val="2400"/>
              </a:spcAft>
            </a:pPr>
            <a:r>
              <a:rPr sz="1700">
                <a:solidFill>
                  <a:srgbClr val="DAE5EA"/>
                </a:solidFill>
              </a:rPr>
              <a:t>El proyecto demostró que la unión de PostgreSQL Serverless en Neon, el protocolo MCP y una Skill propia permite transformar dashboards tradicionales en agentes de acción empresarial.</a:t>
            </a:r>
          </a:p>
          <a:p>
            <a:r>
              <a:rPr sz="1400" b="1">
                <a:solidFill>
                  <a:srgbClr val="F5D04A"/>
                </a:solidFill>
              </a:rPr>
              <a:t>¡Muchas gracias! Estamos listos para la sesión de preguntas.
Repositorio: https://github.com/sofmonteja-dotcom/credit-risk-bi-agentico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